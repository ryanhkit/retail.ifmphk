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開場。說明本日重點為構想與路徑，全程畫面取自示範環境，並非現場即興操作。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今日會見到已上線畫面，以及尚未上線的路線圖，兩者會明確區分。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四項痛點係客戶在需求對齊階段提出，不是我們的假設。逐項確認一次。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只用類型對照，不點名任何品牌。強調我們不是再賣一塊屏。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一句話講完定位。強調感知層與營運層分開，日後換技術或換門店，營運層不用推倒重來。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強調分層的好處：更換感知技術或更換門店，營運層不需要重做。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這頁用來建立信任。主動講清楚我們不做什麼，好過被客戶問到。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不逐個畫面講，先建立整體印象，之後才逐頁深入。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指出這是店長每日開工第一眼看的畫面。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強調雙來源敘事：門口用計數，店內用攝像，各司其職。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說明真實門店更換平面圖並完成標定後，介面與資料契約無需重做。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對比頁是「今日算好定唔好」的答案來源。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節假日標籤用匿名同級店舖示例流量，唔係客戶自身數據。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這頁回應「排班與現場脫節」。重點是排班已經是可操作系統，而不止一張更表。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分析已上線。強調它只解讀平台已有的資料，不會寫入或改動任何資料。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誠實區分已上線與未上線。這頁係客戶最需要聽清楚的一頁。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這頁係交付方價值：不止賣軟件，而是包含落地工作。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收束為具體決定事項，不留空泛承諾。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留時間問答。可就隱私、權限、時程回應。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828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947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624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85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8758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53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991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3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0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454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3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0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3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0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7772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2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2475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849DE-5EB1-5597-E8D3-04D310470C8B}"/>
              </a:ext>
            </a:extLst>
          </p:cNvPr>
          <p:cNvSpPr txBox="1"/>
          <p:nvPr/>
        </p:nvSpPr>
        <p:spPr>
          <a:xfrm>
            <a:off x="-231168" y="239731"/>
            <a:ext cx="1847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sz="1500"/>
          </a:p>
        </p:txBody>
      </p:sp>
    </p:spTree>
    <p:extLst>
      <p:ext uri="{BB962C8B-B14F-4D97-AF65-F5344CB8AC3E}">
        <p14:creationId xmlns:p14="http://schemas.microsoft.com/office/powerpoint/2010/main" val="41575399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50D4D-F310-4C95-80FD-E28FF7C6C4D4}" type="datetimeFigureOut">
              <a:rPr lang="zh-TW" altLang="en-US" smtClean="0"/>
              <a:t>2026/9/17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80AE5-DAF9-405A-A708-31EE81157E97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图片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380"/>
            <a:ext cx="12240000" cy="6884236"/>
          </a:xfrm>
          <a:prstGeom prst="rect">
            <a:avLst/>
          </a:prstGeom>
        </p:spPr>
      </p:pic>
      <p:pic>
        <p:nvPicPr>
          <p:cNvPr id="10" name="图片 5"/>
          <p:cNvPicPr>
            <a:picLocks noChangeAspect="1"/>
          </p:cNvPicPr>
          <p:nvPr/>
        </p:nvPicPr>
        <p:blipFill rotWithShape="1">
          <a:blip r:embed="rId15" cstate="print">
            <a:alphaModFix amt="40000"/>
          </a:blip>
          <a:srcRect/>
          <a:stretch>
            <a:fillRect/>
          </a:stretch>
        </p:blipFill>
        <p:spPr>
          <a:xfrm>
            <a:off x="243161" y="2"/>
            <a:ext cx="1992399" cy="1449763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934" y="127992"/>
            <a:ext cx="2750411" cy="41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0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457182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6" indent="-342886" algn="l" defTabSz="457182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20" indent="-285739" algn="l" defTabSz="457182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1" algn="l" defTabSz="457182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457182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457182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457182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457182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457182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457182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IFMP Retail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</a:pPr>
            <a:r>
              <a:rPr sz="26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零售營運主控台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I.T. 時裝零售 · 方案介紹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示範畫面 · 樣本資料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本日三項重點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62400"/>
            <a:ext cx="3543239" cy="4104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9200" y="1886400"/>
            <a:ext cx="3039239" cy="34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1｜由門口到行動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如何把出入口客流，一路連接到店長當更可用的判斷與調配。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4439" y="1562400"/>
            <a:ext cx="3543239" cy="4104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6439" y="1886400"/>
            <a:ext cx="3039239" cy="34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2｜為何「看得見」不足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只有數據與圖表，並不足以改變現場；平台需要規則、排班與複盤依據。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1679" y="1562400"/>
            <a:ext cx="3543239" cy="4104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43679" y="1886400"/>
            <a:ext cx="3039239" cy="34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3｜為何適合作為試點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感知與營運分層，介面與資料契約可沿用；由一店開始，以真實數據驗證。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現場四項痛點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742400"/>
          <a:ext cx="11277719" cy="1890000"/>
        </p:xfrm>
        <a:graphic>
          <a:graphicData uri="http://schemas.openxmlformats.org/drawingml/2006/table">
            <a:tbl>
              <a:tblPr firstRow="1" bandRow="0"/>
              <a:tblGrid>
                <a:gridCol w="4067374"/>
                <a:gridCol w="7210345"/>
              </a:tblGrid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痛點</a:t>
                      </a:r>
                    </a:p>
                  </a:txBody>
                  <a:tcPr marL="125999" marR="125999" marT="43200" marB="4320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現場感受</a:t>
                      </a:r>
                    </a:p>
                  </a:txBody>
                  <a:tcPr marL="125999" marR="125999" marT="43200" marB="43200" anchor="ctr">
                    <a:solidFill>
                      <a:srgbClr val="1F497D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過店多，進店與轉化不穩定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門口熱鬧，店內業績未必同步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高停留區域無人跟進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試衣間、貨架有人瀏覽，缺口難以及時發現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排班與現場脫節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更表多按經驗；忙閒與實際需要未能對齊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複盤欠缺依據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會議缺乏事件與片段依據，難以建設性檢討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常見失敗模式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742400"/>
          <a:ext cx="11277719" cy="1890000"/>
        </p:xfrm>
        <a:graphic>
          <a:graphicData uri="http://schemas.openxmlformats.org/drawingml/2006/table">
            <a:tbl>
              <a:tblPr firstRow="1" bandRow="0"/>
              <a:tblGrid>
                <a:gridCol w="3697613"/>
                <a:gridCol w="7580106"/>
              </a:tblGrid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市場類型</a:t>
                      </a:r>
                    </a:p>
                  </a:txBody>
                  <a:tcPr marL="125999" marR="125999" marT="43200" marB="4320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限制</a:t>
                      </a:r>
                    </a:p>
                  </a:txBody>
                  <a:tcPr marL="125999" marR="125999" marT="43200" marB="43200" anchor="ctr">
                    <a:solidFill>
                      <a:srgbClr val="1F497D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純硬件計數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看得見人流，但行動不了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純影像 AI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片段繁多，缺少營運規則與閉環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純排班系統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有更表，缺少即時現場輸入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通用零售 BI 大屏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視覺完整，但不是店長當更可用的工具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30400"/>
            <a:ext cx="112777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需要的是一套營運系統，而非多一塊顯示屏。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方案一句話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994400"/>
            <a:ext cx="11277719" cy="2736000"/>
          </a:xfrm>
          <a:prstGeom prst="rect">
            <a:avLst/>
          </a:prstGeom>
          <a:solidFill>
            <a:srgbClr val="F2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5200" y="2318400"/>
            <a:ext cx="10341719" cy="21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以門禁計數掌握出入口事實，以店內攝像掌握動線與停留；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經 一見 完成感知，由 IFMP 形成規則與看板，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並連接 即時調度、排班建議、服務教練。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 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能源模組僅在具備設備控制權時再談聯動。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6400"/>
            <a:ext cx="112777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感知與營運是兩層，不是一套大雜燴。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架構一頁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21200" y="1688399"/>
            <a:ext cx="10413719" cy="827999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73200" y="1789200"/>
            <a:ext cx="9909719" cy="64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門禁計數 ／ 店內攝像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出入口事實與店內動線兩個來源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1200" y="2516399"/>
            <a:ext cx="10413719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F81BD"/>
                </a:solidFill>
                <a:latin typeface="Calibri"/>
                <a:ea typeface="微軟正黑體"/>
                <a:cs typeface="微軟正黑體"/>
              </a:rP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1200" y="2703600"/>
            <a:ext cx="10413719" cy="827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3200" y="2804400"/>
            <a:ext cx="9909719" cy="64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百度一見（感知層）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偵測、追蹤、區域停留、推送事件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1200" y="3531599"/>
            <a:ext cx="10413719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F81BD"/>
                </a:solidFill>
                <a:latin typeface="Calibri"/>
                <a:ea typeface="微軟正黑體"/>
                <a:cs typeface="微軟正黑體"/>
              </a:rP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1200" y="3718799"/>
            <a:ext cx="10413719" cy="827999"/>
          </a:xfrm>
          <a:prstGeom prst="roundRect">
            <a:avLst>
              <a:gd name="adj" fmla="val 12000"/>
            </a:avLst>
          </a:prstGeom>
          <a:solidFill>
            <a:srgbClr val="F2F6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3200" y="3819599"/>
            <a:ext cx="9909719" cy="64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IFMP（營運層）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聚合、規則、看板、告警、複核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1200" y="4546800"/>
            <a:ext cx="10413719" cy="18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F81BD"/>
                </a:solidFill>
                <a:latin typeface="Calibri"/>
                <a:ea typeface="微軟正黑體"/>
                <a:cs typeface="微軟正黑體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1200" y="4733999"/>
            <a:ext cx="10413719" cy="827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3200" y="4834799"/>
            <a:ext cx="9909719" cy="64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店長工作流程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當更判斷、調配、週會複盤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03199"/>
            <a:ext cx="112777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分工原則：一見負責偵測與事件；IFMP 負責營運決策面與閉環。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刻意不做的事項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742400"/>
          <a:ext cx="11277719" cy="1890000"/>
        </p:xfrm>
        <a:graphic>
          <a:graphicData uri="http://schemas.openxmlformats.org/drawingml/2006/table">
            <a:tbl>
              <a:tblPr firstRow="1" bandRow="0"/>
              <a:tblGrid>
                <a:gridCol w="4252255"/>
                <a:gridCol w="7025464"/>
              </a:tblGrid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不做</a:t>
                      </a:r>
                    </a:p>
                  </a:txBody>
                  <a:tcPr marL="125999" marR="125999" marT="43200" marB="4320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原因</a:t>
                      </a:r>
                    </a:p>
                  </a:txBody>
                  <a:tcPr marL="125999" marR="125999" marT="43200" marB="43200" anchor="ctr">
                    <a:solidFill>
                      <a:srgbClr val="1F497D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不做人臉識別以辨識顧客身份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隱私敏感，非本方案範圍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不承諾控制商場中央空調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無設備控制權則不作此主張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不一期覆蓋全港門店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以一店試點驗證為先</a:t>
                      </a:r>
                    </a:p>
                  </a:txBody>
                  <a:tcPr marL="125999" marR="125999" marT="43200" marB="43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不在本階段標定報價數字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33333"/>
                          </a:solidFill>
                          <a:latin typeface="Calibri"/>
                          <a:ea typeface="微軟正黑體"/>
                          <a:cs typeface="微軟正黑體"/>
                        </a:rPr>
                        <a:t>範圍未定則價格無意義</a:t>
                      </a:r>
                    </a:p>
                  </a:txBody>
                  <a:tcPr marL="125999" marR="125999" marT="43200" marB="4320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30400"/>
            <a:ext cx="112777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承諾與能力一致，比功能清單更重要。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平台導覽</a:t>
            </a:r>
          </a:p>
        </p:txBody>
      </p:sp>
      <p:pic>
        <p:nvPicPr>
          <p:cNvPr id="3" name="Picture 2" descr="10-entr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59" y="1598399"/>
            <a:ext cx="3204000" cy="18022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30059" y="1598399"/>
            <a:ext cx="3204000" cy="1802250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0059" y="3443849"/>
            <a:ext cx="3204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出入口</a:t>
            </a:r>
          </a:p>
        </p:txBody>
      </p:sp>
      <p:pic>
        <p:nvPicPr>
          <p:cNvPr id="6" name="Picture 5" descr="11-jour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059" y="1598399"/>
            <a:ext cx="3204000" cy="1802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94059" y="1598399"/>
            <a:ext cx="3204000" cy="1802250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59" y="3443849"/>
            <a:ext cx="3204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動線熱力</a:t>
            </a:r>
          </a:p>
        </p:txBody>
      </p:sp>
      <p:pic>
        <p:nvPicPr>
          <p:cNvPr id="9" name="Picture 8" descr="09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059" y="1598399"/>
            <a:ext cx="3204000" cy="18022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58059" y="1598399"/>
            <a:ext cx="3204000" cy="1802250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8059" y="3443849"/>
            <a:ext cx="3204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主控台</a:t>
            </a:r>
          </a:p>
        </p:txBody>
      </p:sp>
      <p:pic>
        <p:nvPicPr>
          <p:cNvPr id="12" name="Picture 11" descr="12a-audi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059" y="3796650"/>
            <a:ext cx="3204000" cy="18022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30059" y="3796650"/>
            <a:ext cx="3204000" cy="1802250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059" y="5642100"/>
            <a:ext cx="3204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客群畫像</a:t>
            </a:r>
          </a:p>
        </p:txBody>
      </p:sp>
      <p:pic>
        <p:nvPicPr>
          <p:cNvPr id="15" name="Picture 14" descr="12b-comp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4059" y="3796650"/>
            <a:ext cx="3204000" cy="18022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494059" y="3796650"/>
            <a:ext cx="3204000" cy="1802250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4059" y="5642100"/>
            <a:ext cx="3204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同期對比</a:t>
            </a:r>
          </a:p>
        </p:txBody>
      </p:sp>
      <p:pic>
        <p:nvPicPr>
          <p:cNvPr id="18" name="Picture 17" descr="14a-roster-wee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8059" y="3796650"/>
            <a:ext cx="3204000" cy="180225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058059" y="3796650"/>
            <a:ext cx="3204000" cy="1802250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8059" y="5642100"/>
            <a:ext cx="3204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排班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58900"/>
            <a:ext cx="112777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由客流事實，到店長當更判斷，同一套介面完成。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示範畫面 · 樣本資料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主控台</a:t>
            </a:r>
          </a:p>
        </p:txBody>
      </p:sp>
      <p:pic>
        <p:nvPicPr>
          <p:cNvPr id="3" name="Picture 2" descr="09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6400"/>
            <a:ext cx="7740000" cy="4353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1616400"/>
            <a:ext cx="7740000" cy="4353750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21200" y="1778399"/>
            <a:ext cx="3213719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當更一個入口看清今日狀況。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客流關鍵指標集中呈現，無需開啟多套系統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動線熱力縮圖內嵌，一眼看到店內分佈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頁面標示資料定格日，避免誤讀為即時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示範畫面 · 樣本資料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出入口</a:t>
            </a:r>
          </a:p>
        </p:txBody>
      </p:sp>
      <p:pic>
        <p:nvPicPr>
          <p:cNvPr id="3" name="Picture 2" descr="10-entr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6400"/>
            <a:ext cx="7740000" cy="4353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1616400"/>
            <a:ext cx="7740000" cy="4353750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21200" y="1778399"/>
            <a:ext cx="3213719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增收由門口開始。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區分「路過」與「進店」，兩者不可混為一談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出入口計數對準門口事實，獨立於店內攝像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支援多出入口，並提供近 7 日合計視角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示範畫面 · 樣本資料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動線熱力</a:t>
            </a:r>
          </a:p>
        </p:txBody>
      </p:sp>
      <p:pic>
        <p:nvPicPr>
          <p:cNvPr id="3" name="Picture 2" descr="11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6400"/>
            <a:ext cx="7740000" cy="4353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1616400"/>
            <a:ext cx="7740000" cy="4353750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21200" y="1778399"/>
            <a:ext cx="3213719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何處停留，何處就是轉化機會。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平面密度、區域人次與平均停留，指向貨架、試衣間、收銀台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示範平面圖 · 樣本密度（非即時影像）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真實門店更換平面圖並完成標定後，介面與資料契約無需重做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示範畫面 · 樣本資料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客群畫像 與 同期對比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80400"/>
            <a:ext cx="545885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客群畫像</a:t>
            </a:r>
          </a:p>
        </p:txBody>
      </p:sp>
      <p:pic>
        <p:nvPicPr>
          <p:cNvPr id="4" name="Picture 3" descr="12a-aud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2400"/>
            <a:ext cx="5458859" cy="30706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922400"/>
            <a:ext cx="5458859" cy="3070608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119008"/>
            <a:ext cx="545885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本月至今的顧客結構視角，支援針對性營運判斷。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6059" y="1580400"/>
            <a:ext cx="545885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同期對比</a:t>
            </a:r>
          </a:p>
        </p:txBody>
      </p:sp>
      <p:pic>
        <p:nvPicPr>
          <p:cNvPr id="8" name="Picture 7" descr="12b-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059" y="1922400"/>
            <a:ext cx="5458859" cy="3070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76059" y="1922400"/>
            <a:ext cx="5458859" cy="3070608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6059" y="5119008"/>
            <a:ext cx="545885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選定日、上週同曜日、去年同期三者並列，判斷今日是否異常。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示範畫面 · 樣本資料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節假日 與 設備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80400"/>
            <a:ext cx="545885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節假日</a:t>
            </a:r>
          </a:p>
        </p:txBody>
      </p:sp>
      <p:pic>
        <p:nvPicPr>
          <p:cNvPr id="4" name="Picture 3" descr="13a-holi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2400"/>
            <a:ext cx="5458859" cy="30706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922400"/>
            <a:ext cx="5458859" cy="3070608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119008"/>
            <a:ext cx="545885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港曆節日標籤疊加示例流量，協助區分節日效應與營運問題。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6059" y="1580400"/>
            <a:ext cx="5458859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設備</a:t>
            </a:r>
          </a:p>
        </p:txBody>
      </p:sp>
      <p:pic>
        <p:nvPicPr>
          <p:cNvPr id="8" name="Picture 7" descr="13b-de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059" y="1922400"/>
            <a:ext cx="5458859" cy="3070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76059" y="1922400"/>
            <a:ext cx="5458859" cy="3070608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6059" y="5119008"/>
            <a:ext cx="545885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設備清單與最後上線時間，確保資料來源健康、缺口可發現。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示範畫面 · 樣本資料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排班與管治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80400"/>
            <a:ext cx="112777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週更表以週為單位編排，支援複製上週、複製該日、復原操作。</a:t>
            </a:r>
          </a:p>
        </p:txBody>
      </p:sp>
      <p:pic>
        <p:nvPicPr>
          <p:cNvPr id="4" name="Picture 3" descr="14a-roster-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8399"/>
            <a:ext cx="6696000" cy="3766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958399"/>
            <a:ext cx="6696000" cy="3766500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77200" y="1958399"/>
            <a:ext cx="4257719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管治配套：員工名冊 ｜ 更表模板 ｜ 工時政策 ｜ 調更審批 ｜ 審計記錄</a:t>
            </a:r>
          </a:p>
        </p:txBody>
      </p:sp>
      <p:pic>
        <p:nvPicPr>
          <p:cNvPr id="7" name="Picture 6" descr="14b-roster-sw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200" y="3074399"/>
            <a:ext cx="2020859" cy="113673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77200" y="3074399"/>
            <a:ext cx="2020859" cy="1136733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7200" y="4254333"/>
            <a:ext cx="202085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調更審批</a:t>
            </a:r>
          </a:p>
        </p:txBody>
      </p:sp>
      <p:pic>
        <p:nvPicPr>
          <p:cNvPr id="10" name="Picture 9" descr="14c-roster-au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059" y="3074399"/>
            <a:ext cx="2020859" cy="113673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714059" y="3074399"/>
            <a:ext cx="2020859" cy="1136733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4059" y="4254333"/>
            <a:ext cx="202085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審計記錄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86900"/>
            <a:ext cx="112777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調更設審批流程，所有改動留有操作人與動作記錄。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示範畫面 · 樣本資料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AI 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4691"/>
            <a:ext cx="112777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把圖表讀成一句判斷。</a:t>
            </a:r>
          </a:p>
        </p:txBody>
      </p:sp>
      <p:pic>
        <p:nvPicPr>
          <p:cNvPr id="4" name="Picture 3" descr="15a-ai-in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24691"/>
            <a:ext cx="11277719" cy="15790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024691"/>
            <a:ext cx="11277719" cy="1579016"/>
          </a:xfrm>
          <a:prstGeom prst="rect">
            <a:avLst/>
          </a:prstGeom>
          <a:noFill/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83708"/>
            <a:ext cx="11277719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每個分頁附設分析區，指出異常、比較基準與值得注意的變化，並可重新產生。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示範畫面 · 樣本資料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已上線 與 路線圖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34400"/>
            <a:ext cx="3567239" cy="3816000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9200" y="1922400"/>
            <a:ext cx="3063239" cy="3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已上線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主控台 ｜ 動線熱力 ｜ 出入口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客群畫像 ｜ 同期對比 ｜ 節假日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設備 ｜ 設定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排班：週板、員工名冊、更表模板、工時政策、調更審批、審計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AI 分析 ｜ 平台問答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2439" y="1634400"/>
            <a:ext cx="3567239" cy="38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64439" y="1922400"/>
            <a:ext cx="3063239" cy="3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4F81BD"/>
                </a:solidFill>
                <a:latin typeface="Calibri"/>
                <a:ea typeface="微軟正黑體"/>
                <a:cs typeface="微軟正黑體"/>
              </a:rPr>
              <a:t>開發中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服務缺口告警：高停留區域連續約 2 分鐘無人服務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一鍵調度：由缺口事件直接指派支援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服務教練：缺口與片段帶入週會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首輪接觸目標秒數，可配置，預設 90 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7679" y="1634400"/>
            <a:ext cx="3567239" cy="38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F8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9679" y="1922400"/>
            <a:ext cx="3063239" cy="3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路線圖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POS 對接 ｜ 多店對標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· 能源監測，具備控制權後再談聯動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94400"/>
            <a:ext cx="112777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開發中與路線圖項目尚未上線，本頁不提供畫面。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HKIT 實施服務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16400"/>
            <a:ext cx="11277719" cy="774719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5200" y="1695600"/>
            <a:ext cx="2736000" cy="630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現場標定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3199" y="1695600"/>
            <a:ext cx="7893719" cy="630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攝像位置與區域界線勘定，確保計數與停留判定準確。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53120"/>
            <a:ext cx="11277719" cy="7747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00" y="2632320"/>
            <a:ext cx="2736000" cy="630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平台對接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199" y="2632320"/>
            <a:ext cx="7893719" cy="630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一見事件接入 IFMP，設定規則閾值與告警條件。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89839"/>
            <a:ext cx="11277719" cy="774719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00" y="3569040"/>
            <a:ext cx="2736000" cy="630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平面圖與區域設定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3199" y="3569040"/>
            <a:ext cx="7893719" cy="630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依真實門店平面圖完成區域定義，介面沿用現有結構。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26560"/>
            <a:ext cx="11277719" cy="77471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00" y="4505760"/>
            <a:ext cx="2736000" cy="630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人員識別基礎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3199" y="4505760"/>
            <a:ext cx="7893719" cy="630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建立工服與排班對照基礎，供人員分類使用。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63280"/>
            <a:ext cx="11277719" cy="774719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00" y="5442480"/>
            <a:ext cx="2736000" cy="630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培訓與支援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3199" y="5442480"/>
            <a:ext cx="7893719" cy="6307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店長與營運培訓、週會複盤方法、上線後支援安排。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10942919" cy="1141200"/>
          </a:xfrm>
        </p:spPr>
        <p:txBody>
          <a:bodyPr wrap="square" anchor="ctr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試點如何開始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52400"/>
            <a:ext cx="4320000" cy="77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第一步｜選定門店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3200" y="1652400"/>
            <a:ext cx="6741719" cy="77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選定一店，準備平面圖與現有鏡頭評估。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21800"/>
            <a:ext cx="11277719" cy="72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24400"/>
            <a:ext cx="4320000" cy="77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第二步｜訂定規則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3200" y="2624400"/>
            <a:ext cx="6741719" cy="77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確立服務缺口門檻與店長簽收流程。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93800"/>
            <a:ext cx="11277719" cy="72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96400"/>
            <a:ext cx="4320000" cy="77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第三步｜排班對接深度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3200" y="3596400"/>
            <a:ext cx="6741719" cy="77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先提供建議，或需要寫回既有排班系統，兩者皆可商議。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65800"/>
            <a:ext cx="11277719" cy="7200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68400"/>
            <a:ext cx="4320000" cy="77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第四步｜換入真實數據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3200" y="4568400"/>
            <a:ext cx="6741719" cy="77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libri"/>
                <a:ea typeface="微軟正黑體"/>
                <a:cs typeface="微軟正黑體"/>
              </a:rPr>
              <a:t>試點期沿用同一套介面，以真實數據取代樣本資料。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6400"/>
            <a:ext cx="112777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請貴司考慮決定：試點門店與時間窗口、對接窗口（營運與資訊）、是否安排操作工作坊。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124800" y="6357600"/>
            <a:ext cx="2894399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000" y="6357600"/>
            <a:ext cx="2134800" cy="3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多謝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800"/>
              </a:spcAft>
            </a:pPr>
            <a:r>
              <a:rPr sz="2600" b="1">
                <a:solidFill>
                  <a:srgbClr val="1F497D"/>
                </a:solidFill>
                <a:latin typeface="Calibri"/>
                <a:ea typeface="微軟正黑體"/>
                <a:cs typeface="微軟正黑體"/>
              </a:rPr>
              <a:t>HKIT 智域 × 百度一見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下一步：試點門店確認 · 操作工作坊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F8C9E"/>
                </a:solidFill>
                <a:latin typeface="Calibri"/>
                <a:ea typeface="微軟正黑體"/>
                <a:cs typeface="微軟正黑體"/>
              </a:rPr>
              <a:t>示範畫面 · 樣本資料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xwood_IFMP_Presentation_V1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20260914T100825-昭陽花園保安營運建議</Template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Texwood_IFMP_Presentation_V10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Pak Hei Ryan Chan</dc:creator>
  <cp:lastModifiedBy>Pak Hei Ryan Chan</cp:lastModifiedBy>
  <cp:revision>1</cp:revision>
  <dcterms:created xsi:type="dcterms:W3CDTF">2026-09-16T18:35:11Z</dcterms:created>
  <dcterms:modified xsi:type="dcterms:W3CDTF">2026-09-16T18:36:34Z</dcterms:modified>
</cp:coreProperties>
</file>